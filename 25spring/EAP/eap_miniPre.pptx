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1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 b="def" i="def"/>
      <a:tcStyle>
        <a:tcBdr/>
        <a:fill>
          <a:solidFill>
            <a:srgbClr val="E6F6E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CCE6"/>
          </a:solidFill>
        </a:fill>
      </a:tcStyle>
    </a:wholeTbl>
    <a:band2H>
      <a:tcTxStyle b="def" i="def"/>
      <a:tcStyle>
        <a:tcBdr/>
        <a:fill>
          <a:solidFill>
            <a:srgbClr val="E7E7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Times New Roman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" name="Click to edit Master text styles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Click to edit Master text styles</a:t>
            </a:r>
          </a:p>
        </p:txBody>
      </p:sp>
      <p:sp>
        <p:nvSpPr>
          <p:cNvPr id="15" name="Body Level One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3">
            <a:lumOff val="44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/>
          <p:cNvSpPr/>
          <p:nvPr/>
        </p:nvSpPr>
        <p:spPr>
          <a:xfrm flipV="1">
            <a:off x="-3082" y="580834"/>
            <a:ext cx="12195083" cy="4572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3">
                    <a:lumOff val="44000"/>
                  </a:schemeClr>
                </a:solidFill>
              </a:defRPr>
            </a:pPr>
          </a:p>
        </p:txBody>
      </p:sp>
      <p:pic>
        <p:nvPicPr>
          <p:cNvPr id="3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rcRect l="15008" t="37278" r="14624" b="42746"/>
          <a:stretch>
            <a:fillRect/>
          </a:stretch>
        </p:blipFill>
        <p:spPr>
          <a:xfrm>
            <a:off x="9999676" y="54751"/>
            <a:ext cx="2192325" cy="42742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719559" y="6444677"/>
            <a:ext cx="281941" cy="287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b="1" i="0" sz="1400"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5" name="Click to edit Master text styles"/>
          <p:cNvSpPr txBox="1"/>
          <p:nvPr>
            <p:ph type="title" hasCustomPrompt="1"/>
          </p:nvPr>
        </p:nvSpPr>
        <p:spPr>
          <a:xfrm>
            <a:off x="1" y="7039"/>
            <a:ext cx="10016454" cy="579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Click to edit Master text styles</a:t>
            </a:r>
          </a:p>
        </p:txBody>
      </p:sp>
      <p:sp>
        <p:nvSpPr>
          <p:cNvPr id="6" name="Body Level One…"/>
          <p:cNvSpPr txBox="1"/>
          <p:nvPr>
            <p:ph type="body" idx="1" hasCustomPrompt="1"/>
          </p:nvPr>
        </p:nvSpPr>
        <p:spPr>
          <a:xfrm>
            <a:off x="1" y="6405657"/>
            <a:ext cx="11605405" cy="445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Reference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  <p:transition xmlns:p14="http://schemas.microsoft.com/office/powerpoint/2010/main" spd="med" advClick="1"/>
  <p:txStyles>
    <p:titleStyle>
      <a:lvl1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119379" marR="0" indent="-119379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119379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119379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119379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119379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519430" marR="0" indent="-114300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862647" marR="0" indent="-115252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80000"/>
        <a:buFontTx/>
        <a:buChar char="➢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265078" marR="0" indent="-172878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1542288" marR="0" indent="-105918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19994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24566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29138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3371088" marR="0" indent="-105917" algn="l" defTabSz="914400" rtl="0" latinLnBrk="0">
        <a:lnSpc>
          <a:spcPct val="100000"/>
        </a:lnSpc>
        <a:spcBef>
          <a:spcPts val="2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Times New Roman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onlineeducation.com/features/artificial-intelligence-biases-in-education" TargetMode="External"/><Relationship Id="rId3" Type="http://schemas.openxmlformats.org/officeDocument/2006/relationships/image" Target="../media/image1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1: Inequality in the Technical Coding Layer</a:t>
            </a:r>
          </a:p>
        </p:txBody>
      </p:sp>
      <p:sp>
        <p:nvSpPr>
          <p:cNvPr id="26" name="内容占位符 3"/>
          <p:cNvSpPr txBox="1"/>
          <p:nvPr/>
        </p:nvSpPr>
        <p:spPr>
          <a:xfrm>
            <a:off x="1046480" y="1244600"/>
            <a:ext cx="4449445" cy="364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Algorithmic bias may lead to the systematic neglect or discrimination against minority groups.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</p:txBody>
      </p:sp>
      <p:pic>
        <p:nvPicPr>
          <p:cNvPr id="27" name="内容占位符 6" descr="内容占位符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58509" y="803909"/>
            <a:ext cx="4965701" cy="2867026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内容占位符 3"/>
          <p:cNvSpPr txBox="1"/>
          <p:nvPr/>
        </p:nvSpPr>
        <p:spPr>
          <a:xfrm>
            <a:off x="6113145" y="4101465"/>
            <a:ext cx="4449445" cy="321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Technological monopolies enable a handful of giants to control both data and computing power.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</p:txBody>
      </p:sp>
      <p:pic>
        <p:nvPicPr>
          <p:cNvPr id="29" name="图片 9" descr="图片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8400" y="3496945"/>
            <a:ext cx="4075430" cy="2656841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内容占位符 2"/>
          <p:cNvSpPr txBox="1"/>
          <p:nvPr>
            <p:ph type="body" sz="quarter" idx="1"/>
          </p:nvPr>
        </p:nvSpPr>
        <p:spPr>
          <a:xfrm>
            <a:off x="0" y="6365569"/>
            <a:ext cx="11605406" cy="445305"/>
          </a:xfrm>
          <a:prstGeom prst="rect">
            <a:avLst/>
          </a:prstGeom>
        </p:spPr>
        <p:txBody>
          <a:bodyPr/>
          <a:lstStyle/>
          <a:p>
            <a:pPr defTabSz="804672">
              <a:defRPr sz="1056"/>
            </a:pPr>
            <a:r>
              <a:t>Noble, S. U. (2018). Algorithms of oppression: How search engines reinforce racism. New York University Press.URL: https://nyupress.org/books/9781479837243/</a:t>
            </a:r>
          </a:p>
          <a:p>
            <a:pPr defTabSz="804672">
              <a:defRPr sz="1056"/>
            </a:pPr>
            <a:r>
              <a:t>Sadowski, J. (2020). Too smart: how digital capitalism is extracting data, controlling our lives, and taking over the world. (1st ed.) The MIT Press. https://doi.org/10.7551/mitpress/12240.001.0001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" name="标题 1"/>
          <p:cNvSpPr txBox="1"/>
          <p:nvPr>
            <p:ph type="title"/>
          </p:nvPr>
        </p:nvSpPr>
        <p:spPr>
          <a:xfrm>
            <a:off x="0" y="7039"/>
            <a:ext cx="10016456" cy="579559"/>
          </a:xfrm>
          <a:prstGeom prst="rect">
            <a:avLst/>
          </a:prstGeom>
        </p:spPr>
        <p:txBody>
          <a:bodyPr/>
          <a:lstStyle/>
          <a:p>
            <a:pPr/>
            <a:r>
              <a:t>2.Inequality in the Employement Layer</a:t>
            </a:r>
          </a:p>
        </p:txBody>
      </p:sp>
      <p:pic>
        <p:nvPicPr>
          <p:cNvPr id="34" name="内容占位符 8" descr="内容占位符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49059" y="977264"/>
            <a:ext cx="3829686" cy="2287906"/>
          </a:xfrm>
          <a:prstGeom prst="rect">
            <a:avLst/>
          </a:prstGeom>
          <a:ln w="12700">
            <a:solidFill>
              <a:srgbClr val="22228B"/>
            </a:solidFill>
          </a:ln>
        </p:spPr>
      </p:pic>
      <p:pic>
        <p:nvPicPr>
          <p:cNvPr id="35" name="内容占位符 5" descr="内容占位符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48425" y="3378200"/>
            <a:ext cx="3832225" cy="2138680"/>
          </a:xfrm>
          <a:prstGeom prst="rect">
            <a:avLst/>
          </a:prstGeom>
          <a:ln w="12700">
            <a:solidFill>
              <a:srgbClr val="22228B"/>
            </a:solidFill>
          </a:ln>
        </p:spPr>
      </p:pic>
      <p:sp>
        <p:nvSpPr>
          <p:cNvPr id="36" name="内容占位符 3"/>
          <p:cNvSpPr txBox="1"/>
          <p:nvPr/>
        </p:nvSpPr>
        <p:spPr>
          <a:xfrm>
            <a:off x="236791" y="726550"/>
            <a:ext cx="4449445" cy="5434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Automation of routine tasks </a:t>
            </a:r>
            <a:r>
              <a:rPr>
                <a:solidFill>
                  <a:srgbClr val="FF2600"/>
                </a:solidFill>
              </a:rPr>
              <a:t>increase</a:t>
            </a:r>
            <a:r>
              <a:rPr>
                <a:solidFill>
                  <a:srgbClr val="C00000"/>
                </a:solidFill>
                <a:latin typeface="+mn-lt"/>
                <a:ea typeface="+mn-ea"/>
                <a:cs typeface="+mn-cs"/>
                <a:sym typeface="Times New Roman"/>
              </a:rPr>
              <a:t> </a:t>
            </a:r>
            <a:r>
              <a:t>the profit of company.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Effect on employment with automating:                    wage rate of low skill </a:t>
            </a:r>
            <a:r>
              <a:rPr>
                <a:solidFill>
                  <a:srgbClr val="FF0000"/>
                </a:solidFill>
              </a:rPr>
              <a:t>decreasing.                    </a:t>
            </a:r>
            <a:r>
              <a:t>wage rate of high skill </a:t>
            </a:r>
            <a:r>
              <a:rPr>
                <a:solidFill>
                  <a:srgbClr val="FF0000"/>
                </a:solidFill>
              </a:rPr>
              <a:t>increasing.</a:t>
            </a:r>
            <a:r>
              <a:rPr>
                <a:solidFill>
                  <a:srgbClr val="FF0000"/>
                </a:solidFill>
                <a:latin typeface="+mn-lt"/>
                <a:ea typeface="+mn-ea"/>
                <a:cs typeface="+mn-cs"/>
                <a:sym typeface="Times New Roman"/>
              </a:rPr>
              <a:t>                       </a:t>
            </a:r>
            <a:r>
              <a:rPr>
                <a:solidFill>
                  <a:srgbClr val="0433FF"/>
                </a:solidFill>
              </a:rPr>
              <a:t>wage inequality</a:t>
            </a:r>
            <a:r>
              <a:rPr>
                <a:solidFill>
                  <a:srgbClr val="FF0000"/>
                </a:solidFill>
              </a:rPr>
              <a:t> increasing.</a:t>
            </a:r>
          </a:p>
          <a:p>
            <a:pPr>
              <a:spcBef>
                <a:spcPts val="500"/>
              </a:spcBef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</p:txBody>
      </p:sp>
      <p:sp>
        <p:nvSpPr>
          <p:cNvPr id="37" name="Upreti, A., &amp; Sridhar, V. (2024). Effect of automation of routine and non-routine tasks on labour demand and wages. IIMB Management Review (Elsevier Science), 36(4), 289–308. https://doi.org/10.1016/j.iimb.2024.09.001"/>
          <p:cNvSpPr txBox="1"/>
          <p:nvPr>
            <p:ph type="body" sz="quarter" idx="1"/>
          </p:nvPr>
        </p:nvSpPr>
        <p:spPr>
          <a:xfrm>
            <a:off x="1" y="6405657"/>
            <a:ext cx="11605405" cy="452344"/>
          </a:xfrm>
          <a:prstGeom prst="rect">
            <a:avLst/>
          </a:prstGeom>
        </p:spPr>
        <p:txBody>
          <a:bodyPr/>
          <a:lstStyle>
            <a:lvl1pPr defTabSz="768095">
              <a:spcBef>
                <a:spcPts val="0"/>
              </a:spcBef>
              <a:defRPr i="1" sz="1175"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pPr/>
            <a:r>
              <a:t>Upreti, A., &amp; Sridhar, V. (2024). Effect of automation of routine and non-routine tasks on labour demand and wages. IIMB Management Review (Elsevier Science), 36(4), 289–308. https://doi.org/10.1016/j.iimb.2024.09.001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"/>
          <p:cNvSpPr txBox="1"/>
          <p:nvPr>
            <p:ph type="sldNum" sz="quarter" idx="2"/>
          </p:nvPr>
        </p:nvSpPr>
        <p:spPr>
          <a:xfrm>
            <a:off x="11808459" y="6444677"/>
            <a:ext cx="193041" cy="28708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0" name="3.Inequality in the Social Power layer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3.Inequality in the Social Power layer.</a:t>
            </a:r>
          </a:p>
        </p:txBody>
      </p:sp>
      <p:sp>
        <p:nvSpPr>
          <p:cNvPr id="41" name="Toczauer, C. (Unknown). How to combat AI bias in the classroom. OnlineEducation.com. Retrieved April 1, 2025, from https://www.onlineeducation.com/features/artificial-intelligence-biases-in-education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457200">
              <a:spcBef>
                <a:spcPts val="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Toczauer, C.</a:t>
            </a:r>
            <a:r>
              <a:t> (Unknown). </a:t>
            </a:r>
            <a:r>
              <a:rPr i="1"/>
              <a:t>How to combat AI bias in the classroom</a:t>
            </a:r>
            <a:r>
              <a:t>. OnlineEducation.com. Retrieved April 1, 2025, from </a:t>
            </a:r>
            <a:r>
              <a:rPr u="sng">
                <a:solidFill>
                  <a:srgbClr val="0000EE"/>
                </a:solidFill>
                <a:hlinkClick r:id="rId2" invalidUrl="" action="" tgtFrame="" tooltip="" history="1" highlightClick="0" endSnd="0"/>
              </a:rPr>
              <a:t>https://www.onlineeducation.com/features/artificial-intelligence-biases-in-education</a:t>
            </a:r>
          </a:p>
        </p:txBody>
      </p:sp>
      <p:sp>
        <p:nvSpPr>
          <p:cNvPr id="42" name="内容占位符 3"/>
          <p:cNvSpPr txBox="1"/>
          <p:nvPr/>
        </p:nvSpPr>
        <p:spPr>
          <a:xfrm>
            <a:off x="249491" y="725201"/>
            <a:ext cx="4449445" cy="2936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Personalized learning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Automated grading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  <a:r>
              <a:t>Predictive systems that identify at-risk students.</a:t>
            </a: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  <a:p>
            <a:pPr marL="290829" indent="-290829">
              <a:spcBef>
                <a:spcPts val="500"/>
              </a:spcBef>
              <a:buClr>
                <a:srgbClr val="000066"/>
              </a:buClr>
              <a:buSzPct val="70000"/>
              <a:buChar char="❑"/>
              <a:defRPr b="1"/>
            </a:pPr>
          </a:p>
        </p:txBody>
      </p:sp>
      <p:pic>
        <p:nvPicPr>
          <p:cNvPr id="43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1887" y="2412493"/>
            <a:ext cx="7824213" cy="391210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ustech">
  <a:themeElements>
    <a:clrScheme name="sus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sustech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sus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ustech">
  <a:themeElements>
    <a:clrScheme name="sus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sustech">
      <a:majorFont>
        <a:latin typeface="Helvetica"/>
        <a:ea typeface="Helvetica"/>
        <a:cs typeface="Helvetica"/>
      </a:majorFont>
      <a:minorFont>
        <a:latin typeface="Times New Roman"/>
        <a:ea typeface="Times New Roman"/>
        <a:cs typeface="Times New Roman"/>
      </a:minorFont>
    </a:fontScheme>
    <a:fmtScheme name="sus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1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