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 b="def" i="def"/>
      <a:tcStyle>
        <a:tcBdr/>
        <a:fill>
          <a:solidFill>
            <a:srgbClr val="E6F6E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 b="def" i="def"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CCCE6"/>
          </a:solidFill>
        </a:fill>
      </a:tcStyle>
    </a:wholeTbl>
    <a:band2H>
      <a:tcTxStyle b="def" i="def"/>
      <a:tcStyle>
        <a:tcBdr/>
        <a:fill>
          <a:solidFill>
            <a:srgbClr val="E7E7F3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" name="Click to edit Master text styles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text styles</a:t>
            </a:r>
          </a:p>
        </p:txBody>
      </p:sp>
      <p:sp>
        <p:nvSpPr>
          <p:cNvPr id="15" name="Body Level One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Reference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chemeClr val="accent3">
            <a:lumOff val="44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7"/>
          <p:cNvSpPr/>
          <p:nvPr/>
        </p:nvSpPr>
        <p:spPr>
          <a:xfrm flipV="1">
            <a:off x="-3082" y="580834"/>
            <a:ext cx="12195083" cy="4572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</a:defRPr>
            </a:pPr>
          </a:p>
        </p:txBody>
      </p:sp>
      <p:pic>
        <p:nvPicPr>
          <p:cNvPr id="3" name="图片 5" descr="图片 5"/>
          <p:cNvPicPr>
            <a:picLocks noChangeAspect="1"/>
          </p:cNvPicPr>
          <p:nvPr/>
        </p:nvPicPr>
        <p:blipFill>
          <a:blip r:embed="rId2">
            <a:extLst/>
          </a:blip>
          <a:srcRect l="15008" t="37278" r="14624" b="42746"/>
          <a:stretch>
            <a:fillRect/>
          </a:stretch>
        </p:blipFill>
        <p:spPr>
          <a:xfrm>
            <a:off x="9999676" y="54751"/>
            <a:ext cx="2192325" cy="42742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719559" y="6444677"/>
            <a:ext cx="281941" cy="287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b="1" i="0" sz="1400"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5" name="Click to edit Master text styles"/>
          <p:cNvSpPr txBox="1"/>
          <p:nvPr>
            <p:ph type="title" hasCustomPrompt="1"/>
          </p:nvPr>
        </p:nvSpPr>
        <p:spPr>
          <a:xfrm>
            <a:off x="1" y="7039"/>
            <a:ext cx="10016454" cy="579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Click to edit Master text styles</a:t>
            </a:r>
          </a:p>
        </p:txBody>
      </p:sp>
      <p:sp>
        <p:nvSpPr>
          <p:cNvPr id="6" name="Body Level One…"/>
          <p:cNvSpPr txBox="1"/>
          <p:nvPr>
            <p:ph type="body" idx="1" hasCustomPrompt="1"/>
          </p:nvPr>
        </p:nvSpPr>
        <p:spPr>
          <a:xfrm>
            <a:off x="1" y="6405657"/>
            <a:ext cx="11605405" cy="445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Reference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  <p:transition xmlns:p14="http://schemas.microsoft.com/office/powerpoint/2010/main" spd="med" advClick="1"/>
  <p:txStyles>
    <p:titleStyle>
      <a:lvl1pPr marL="119379" marR="0" indent="-11937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119379" marR="0" indent="-11937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19379" marR="0" indent="-11937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19379" marR="0" indent="-11937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119379" marR="0" indent="-11937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119379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119379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119379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119379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519430" marR="0" indent="-1143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●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862647" marR="0" indent="-115252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80000"/>
        <a:buFontTx/>
        <a:buChar char="➢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265078" marR="0" indent="-172878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1542288" marR="0" indent="-105918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1999488" marR="0" indent="-105917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2456688" marR="0" indent="-105917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2913888" marR="0" indent="-105917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3371088" marR="0" indent="-105917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 txBox="1"/>
          <p:nvPr>
            <p:ph type="sldNum" sz="quarter" idx="2"/>
          </p:nvPr>
        </p:nvSpPr>
        <p:spPr>
          <a:xfrm>
            <a:off x="11808459" y="6444677"/>
            <a:ext cx="193041" cy="2870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" name="标题 1"/>
          <p:cNvSpPr txBox="1"/>
          <p:nvPr>
            <p:ph type="title"/>
          </p:nvPr>
        </p:nvSpPr>
        <p:spPr>
          <a:xfrm>
            <a:off x="0" y="7039"/>
            <a:ext cx="10016456" cy="579559"/>
          </a:xfrm>
          <a:prstGeom prst="rect">
            <a:avLst/>
          </a:prstGeom>
        </p:spPr>
        <p:txBody>
          <a:bodyPr/>
          <a:lstStyle/>
          <a:p>
            <a:pPr/>
            <a:r>
              <a:t>First Key Argument</a:t>
            </a:r>
          </a:p>
        </p:txBody>
      </p:sp>
      <p:pic>
        <p:nvPicPr>
          <p:cNvPr id="26" name="内容占位符 5" descr="内容占位符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5604" y="1779904"/>
            <a:ext cx="8165467" cy="4336417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内容占位符 3"/>
          <p:cNvSpPr txBox="1"/>
          <p:nvPr>
            <p:ph type="body" sz="quarter" idx="1"/>
          </p:nvPr>
        </p:nvSpPr>
        <p:spPr>
          <a:xfrm>
            <a:off x="2574639" y="913450"/>
            <a:ext cx="7042721" cy="579558"/>
          </a:xfrm>
          <a:prstGeom prst="rect">
            <a:avLst/>
          </a:prstGeom>
        </p:spPr>
        <p:txBody>
          <a:bodyPr/>
          <a:lstStyle>
            <a:lvl1pPr marL="177406" indent="-177406" defTabSz="557784">
              <a:spcBef>
                <a:spcPts val="300"/>
              </a:spcBef>
              <a:buClr>
                <a:srgbClr val="000066"/>
              </a:buClr>
              <a:buSzPct val="70000"/>
              <a:buChar char="❑"/>
              <a:defRPr b="1" sz="2745"/>
            </a:lvl1pPr>
          </a:lstStyle>
          <a:p>
            <a:pPr/>
            <a:r>
              <a:t>Inequality in the Technical Coding Layer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4"/>
          <p:cNvSpPr txBox="1"/>
          <p:nvPr>
            <p:ph type="sldNum" sz="quarter" idx="2"/>
          </p:nvPr>
        </p:nvSpPr>
        <p:spPr>
          <a:xfrm>
            <a:off x="11808459" y="6444677"/>
            <a:ext cx="193041" cy="2870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0" name="标题 1"/>
          <p:cNvSpPr txBox="1"/>
          <p:nvPr>
            <p:ph type="title"/>
          </p:nvPr>
        </p:nvSpPr>
        <p:spPr>
          <a:xfrm>
            <a:off x="0" y="7039"/>
            <a:ext cx="10016456" cy="579559"/>
          </a:xfrm>
          <a:prstGeom prst="rect">
            <a:avLst/>
          </a:prstGeom>
        </p:spPr>
        <p:txBody>
          <a:bodyPr/>
          <a:lstStyle/>
          <a:p>
            <a:pPr/>
            <a:r>
              <a:t>1.Inequality in the Technical Coding Layer</a:t>
            </a:r>
          </a:p>
        </p:txBody>
      </p:sp>
      <p:pic>
        <p:nvPicPr>
          <p:cNvPr id="31" name="内容占位符 10" descr="内容占位符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79209" y="2428875"/>
            <a:ext cx="4795521" cy="228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文本框 4"/>
          <p:cNvSpPr txBox="1"/>
          <p:nvPr/>
        </p:nvSpPr>
        <p:spPr>
          <a:xfrm>
            <a:off x="950594" y="1676400"/>
            <a:ext cx="8115936" cy="792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0"/>
            </a:lvl1pPr>
          </a:lstStyle>
          <a:p>
            <a:pPr/>
            <a:r>
              <a:t>Training data + Bias  →  Systematic discrimination</a:t>
            </a:r>
          </a:p>
        </p:txBody>
      </p:sp>
      <p:pic>
        <p:nvPicPr>
          <p:cNvPr id="33" name="图片 8" descr="图片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04569" y="2428875"/>
            <a:ext cx="4572001" cy="228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文本框 9"/>
          <p:cNvSpPr txBox="1"/>
          <p:nvPr/>
        </p:nvSpPr>
        <p:spPr>
          <a:xfrm>
            <a:off x="1132839" y="5334634"/>
            <a:ext cx="4569461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0"/>
            </a:lvl1pPr>
          </a:lstStyle>
          <a:p>
            <a:pPr/>
            <a:r>
              <a:t>Amazon's AI recruitment tool</a:t>
            </a:r>
          </a:p>
        </p:txBody>
      </p:sp>
      <p:sp>
        <p:nvSpPr>
          <p:cNvPr id="35" name="文本框 11"/>
          <p:cNvSpPr txBox="1"/>
          <p:nvPr/>
        </p:nvSpPr>
        <p:spPr>
          <a:xfrm>
            <a:off x="6464300" y="4994909"/>
            <a:ext cx="4569460" cy="1148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0"/>
            </a:lvl1pPr>
          </a:lstStyle>
          <a:p>
            <a:pPr/>
            <a:r>
              <a:t>Companies typically refuse to disclose their logic under the guise of "trade secrets." </a:t>
            </a:r>
          </a:p>
        </p:txBody>
      </p:sp>
      <p:sp>
        <p:nvSpPr>
          <p:cNvPr id="36" name="文本框 12"/>
          <p:cNvSpPr txBox="1"/>
          <p:nvPr/>
        </p:nvSpPr>
        <p:spPr>
          <a:xfrm>
            <a:off x="950594" y="1036955"/>
            <a:ext cx="45694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0"/>
            </a:pPr>
            <a:r>
              <a:t>1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）</a:t>
            </a:r>
            <a:r>
              <a:t>Algorithmic bias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4"/>
          <p:cNvSpPr txBox="1"/>
          <p:nvPr>
            <p:ph type="sldNum" sz="quarter" idx="2"/>
          </p:nvPr>
        </p:nvSpPr>
        <p:spPr>
          <a:xfrm>
            <a:off x="11808459" y="6444677"/>
            <a:ext cx="193041" cy="2870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" name="标题 1"/>
          <p:cNvSpPr txBox="1"/>
          <p:nvPr>
            <p:ph type="title"/>
          </p:nvPr>
        </p:nvSpPr>
        <p:spPr>
          <a:xfrm>
            <a:off x="0" y="7039"/>
            <a:ext cx="10016456" cy="579559"/>
          </a:xfrm>
          <a:prstGeom prst="rect">
            <a:avLst/>
          </a:prstGeom>
        </p:spPr>
        <p:txBody>
          <a:bodyPr/>
          <a:lstStyle/>
          <a:p>
            <a:pPr/>
            <a:r>
              <a:t>1.Inequality in the Technical Coding Layer</a:t>
            </a:r>
          </a:p>
        </p:txBody>
      </p:sp>
      <p:pic>
        <p:nvPicPr>
          <p:cNvPr id="40" name="图片 9" descr="图片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9185" y="1617980"/>
            <a:ext cx="4846955" cy="315976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文本框 4"/>
          <p:cNvSpPr txBox="1"/>
          <p:nvPr/>
        </p:nvSpPr>
        <p:spPr>
          <a:xfrm>
            <a:off x="1132839" y="4911725"/>
            <a:ext cx="4569461" cy="1148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0"/>
            </a:lvl1pPr>
          </a:lstStyle>
          <a:p>
            <a:pPr/>
            <a:r>
              <a:t>Core resources have become concentrated in the hands of a few corporate giants.</a:t>
            </a:r>
          </a:p>
        </p:txBody>
      </p:sp>
      <p:sp>
        <p:nvSpPr>
          <p:cNvPr id="42" name="文本框 5"/>
          <p:cNvSpPr txBox="1"/>
          <p:nvPr/>
        </p:nvSpPr>
        <p:spPr>
          <a:xfrm>
            <a:off x="6628129" y="4722495"/>
            <a:ext cx="4569461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0"/>
            </a:lvl1pPr>
          </a:lstStyle>
          <a:p>
            <a:pPr/>
            <a:r>
              <a:t>"Technological feudal system" </a:t>
            </a:r>
          </a:p>
        </p:txBody>
      </p:sp>
      <p:sp>
        <p:nvSpPr>
          <p:cNvPr id="43" name="文本框 6"/>
          <p:cNvSpPr txBox="1"/>
          <p:nvPr/>
        </p:nvSpPr>
        <p:spPr>
          <a:xfrm>
            <a:off x="6628129" y="2804795"/>
            <a:ext cx="4569461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0"/>
            </a:lvl1pPr>
          </a:lstStyle>
          <a:p>
            <a:pPr/>
            <a:r>
              <a:t>Monopolize computing power</a:t>
            </a:r>
          </a:p>
        </p:txBody>
      </p:sp>
      <p:sp>
        <p:nvSpPr>
          <p:cNvPr id="44" name="文本框 8"/>
          <p:cNvSpPr txBox="1"/>
          <p:nvPr/>
        </p:nvSpPr>
        <p:spPr>
          <a:xfrm>
            <a:off x="6628129" y="3763645"/>
            <a:ext cx="4569461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0"/>
            </a:lvl1pPr>
          </a:lstStyle>
          <a:p>
            <a:pPr/>
            <a:r>
              <a:t>Leverage financial might</a:t>
            </a:r>
          </a:p>
        </p:txBody>
      </p:sp>
      <p:sp>
        <p:nvSpPr>
          <p:cNvPr id="45" name="文本框 12"/>
          <p:cNvSpPr txBox="1"/>
          <p:nvPr/>
        </p:nvSpPr>
        <p:spPr>
          <a:xfrm>
            <a:off x="950594" y="1036955"/>
            <a:ext cx="45694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0"/>
            </a:pPr>
            <a:r>
              <a:t>2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）</a:t>
            </a:r>
            <a:r>
              <a:t>Technological monopoly</a:t>
            </a:r>
          </a:p>
        </p:txBody>
      </p:sp>
      <p:sp>
        <p:nvSpPr>
          <p:cNvPr id="46" name="文本框 10"/>
          <p:cNvSpPr txBox="1"/>
          <p:nvPr/>
        </p:nvSpPr>
        <p:spPr>
          <a:xfrm>
            <a:off x="6628129" y="1845945"/>
            <a:ext cx="4569461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0"/>
            </a:lvl1pPr>
          </a:lstStyle>
          <a:p>
            <a:pPr/>
            <a:r>
              <a:t>≥ 80% of global user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4"/>
          <p:cNvSpPr txBox="1"/>
          <p:nvPr>
            <p:ph type="sldNum" sz="quarter" idx="2"/>
          </p:nvPr>
        </p:nvSpPr>
        <p:spPr>
          <a:xfrm>
            <a:off x="11808459" y="6444677"/>
            <a:ext cx="193041" cy="2870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9" name="标题 1"/>
          <p:cNvSpPr txBox="1"/>
          <p:nvPr>
            <p:ph type="title"/>
          </p:nvPr>
        </p:nvSpPr>
        <p:spPr>
          <a:xfrm>
            <a:off x="0" y="7039"/>
            <a:ext cx="10016456" cy="579559"/>
          </a:xfrm>
          <a:prstGeom prst="rect">
            <a:avLst/>
          </a:prstGeom>
        </p:spPr>
        <p:txBody>
          <a:bodyPr/>
          <a:lstStyle/>
          <a:p>
            <a:pPr/>
            <a:r>
              <a:t>1.Inequality in the Technical Coding Layer</a:t>
            </a:r>
          </a:p>
        </p:txBody>
      </p:sp>
      <p:sp>
        <p:nvSpPr>
          <p:cNvPr id="50" name="文本框 4"/>
          <p:cNvSpPr txBox="1"/>
          <p:nvPr/>
        </p:nvSpPr>
        <p:spPr>
          <a:xfrm>
            <a:off x="2443480" y="2898775"/>
            <a:ext cx="2266951" cy="1503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0"/>
            </a:lvl1pPr>
          </a:lstStyle>
          <a:p>
            <a:pPr/>
            <a:r>
              <a:t>Inequality in the Technical Coding Layer</a:t>
            </a:r>
          </a:p>
        </p:txBody>
      </p:sp>
      <p:sp>
        <p:nvSpPr>
          <p:cNvPr id="51" name="文本框 5"/>
          <p:cNvSpPr txBox="1"/>
          <p:nvPr/>
        </p:nvSpPr>
        <p:spPr>
          <a:xfrm>
            <a:off x="7149464" y="1856104"/>
            <a:ext cx="2546126" cy="792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0"/>
            </a:lvl1pPr>
          </a:lstStyle>
          <a:p>
            <a:pPr/>
            <a:r>
              <a:t>Problems in employment</a:t>
            </a:r>
          </a:p>
        </p:txBody>
      </p:sp>
      <p:sp>
        <p:nvSpPr>
          <p:cNvPr id="52" name="文本框 6"/>
          <p:cNvSpPr txBox="1"/>
          <p:nvPr/>
        </p:nvSpPr>
        <p:spPr>
          <a:xfrm>
            <a:off x="7149464" y="4202429"/>
            <a:ext cx="2650071" cy="792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0"/>
            </a:lvl1pPr>
          </a:lstStyle>
          <a:p>
            <a:pPr/>
            <a:r>
              <a:t>Problems in social education</a:t>
            </a:r>
          </a:p>
        </p:txBody>
      </p:sp>
      <p:sp>
        <p:nvSpPr>
          <p:cNvPr id="53" name="右箭头 8"/>
          <p:cNvSpPr/>
          <p:nvPr/>
        </p:nvSpPr>
        <p:spPr>
          <a:xfrm rot="20220000">
            <a:off x="4653915" y="2613025"/>
            <a:ext cx="2360931" cy="355600"/>
          </a:xfrm>
          <a:prstGeom prst="rightArrow">
            <a:avLst>
              <a:gd name="adj1" fmla="val 50000"/>
              <a:gd name="adj2" fmla="val 80108"/>
            </a:avLst>
          </a:prstGeom>
          <a:solidFill>
            <a:srgbClr val="0070C0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+mn-lt"/>
                <a:ea typeface="+mn-ea"/>
                <a:cs typeface="+mn-cs"/>
                <a:sym typeface="Times New Roman"/>
              </a:defRPr>
            </a:pPr>
          </a:p>
        </p:txBody>
      </p:sp>
      <p:sp>
        <p:nvSpPr>
          <p:cNvPr id="54" name="右箭头 10"/>
          <p:cNvSpPr/>
          <p:nvPr/>
        </p:nvSpPr>
        <p:spPr>
          <a:xfrm flipV="1" rot="1380000">
            <a:off x="4653915" y="4000500"/>
            <a:ext cx="2360931" cy="355600"/>
          </a:xfrm>
          <a:prstGeom prst="rightArrow">
            <a:avLst>
              <a:gd name="adj1" fmla="val 50000"/>
              <a:gd name="adj2" fmla="val 80108"/>
            </a:avLst>
          </a:prstGeom>
          <a:solidFill>
            <a:srgbClr val="0070C0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+mn-lt"/>
                <a:ea typeface="+mn-ea"/>
                <a:cs typeface="+mn-cs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4"/>
          <p:cNvSpPr txBox="1"/>
          <p:nvPr>
            <p:ph type="sldNum" sz="quarter" idx="2"/>
          </p:nvPr>
        </p:nvSpPr>
        <p:spPr>
          <a:xfrm>
            <a:off x="11808459" y="6444677"/>
            <a:ext cx="193041" cy="2870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7" name="标题 1"/>
          <p:cNvSpPr txBox="1"/>
          <p:nvPr>
            <p:ph type="title"/>
          </p:nvPr>
        </p:nvSpPr>
        <p:spPr>
          <a:xfrm>
            <a:off x="0" y="7039"/>
            <a:ext cx="10016456" cy="579559"/>
          </a:xfrm>
          <a:prstGeom prst="rect">
            <a:avLst/>
          </a:prstGeom>
        </p:spPr>
        <p:txBody>
          <a:bodyPr/>
          <a:lstStyle/>
          <a:p>
            <a:pPr/>
            <a:r>
              <a:t>Third Key Argument </a:t>
            </a:r>
          </a:p>
        </p:txBody>
      </p:sp>
      <p:pic>
        <p:nvPicPr>
          <p:cNvPr id="5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5040" y="1809944"/>
            <a:ext cx="9001888" cy="4500945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内容占位符 2"/>
          <p:cNvSpPr txBox="1"/>
          <p:nvPr>
            <p:ph type="body" sz="quarter" idx="1"/>
          </p:nvPr>
        </p:nvSpPr>
        <p:spPr>
          <a:xfrm>
            <a:off x="2922302" y="908492"/>
            <a:ext cx="6347396" cy="579558"/>
          </a:xfrm>
          <a:prstGeom prst="rect">
            <a:avLst/>
          </a:prstGeom>
        </p:spPr>
        <p:txBody>
          <a:bodyPr/>
          <a:lstStyle>
            <a:lvl1pPr marL="194856" indent="-194856" defTabSz="612648">
              <a:spcBef>
                <a:spcPts val="300"/>
              </a:spcBef>
              <a:buClr>
                <a:srgbClr val="000066"/>
              </a:buClr>
              <a:buSzPct val="70000"/>
              <a:buChar char="❑"/>
              <a:defRPr b="1" sz="3015"/>
            </a:lvl1pPr>
          </a:lstStyle>
          <a:p>
            <a:pPr/>
            <a:r>
              <a:t>Inequality in the Education Layer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4"/>
          <p:cNvSpPr txBox="1"/>
          <p:nvPr>
            <p:ph type="sldNum" sz="quarter" idx="2"/>
          </p:nvPr>
        </p:nvSpPr>
        <p:spPr>
          <a:xfrm>
            <a:off x="11808459" y="6444677"/>
            <a:ext cx="193041" cy="2870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2" name="标题 1"/>
          <p:cNvSpPr txBox="1"/>
          <p:nvPr>
            <p:ph type="title"/>
          </p:nvPr>
        </p:nvSpPr>
        <p:spPr>
          <a:xfrm>
            <a:off x="0" y="7039"/>
            <a:ext cx="10016456" cy="579559"/>
          </a:xfrm>
          <a:prstGeom prst="rect">
            <a:avLst/>
          </a:prstGeom>
        </p:spPr>
        <p:txBody>
          <a:bodyPr/>
          <a:lstStyle/>
          <a:p>
            <a:pPr/>
            <a:r>
              <a:t>3.Inequality in the Education Layer</a:t>
            </a:r>
          </a:p>
        </p:txBody>
      </p:sp>
      <p:pic>
        <p:nvPicPr>
          <p:cNvPr id="63" name="看纸质书的小男孩.jpg" descr="看纸质书的小男孩.jpg"/>
          <p:cNvPicPr>
            <a:picLocks noChangeAspect="1"/>
          </p:cNvPicPr>
          <p:nvPr/>
        </p:nvPicPr>
        <p:blipFill>
          <a:blip r:embed="rId2">
            <a:extLst/>
          </a:blip>
          <a:srcRect l="0" t="0" r="0" b="2261"/>
          <a:stretch>
            <a:fillRect/>
          </a:stretch>
        </p:blipFill>
        <p:spPr>
          <a:xfrm>
            <a:off x="996623" y="1617980"/>
            <a:ext cx="4846956" cy="3159761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文本框 12"/>
          <p:cNvSpPr txBox="1"/>
          <p:nvPr/>
        </p:nvSpPr>
        <p:spPr>
          <a:xfrm>
            <a:off x="950594" y="1036955"/>
            <a:ext cx="45694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0"/>
            </a:pPr>
            <a:r>
              <a:t>1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）Personalized Learning</a:t>
            </a:r>
          </a:p>
        </p:txBody>
      </p:sp>
      <p:pic>
        <p:nvPicPr>
          <p:cNvPr id="65" name="利用ai学习.jpg" descr="利用ai学习.jpg"/>
          <p:cNvPicPr>
            <a:picLocks noChangeAspect="1"/>
          </p:cNvPicPr>
          <p:nvPr/>
        </p:nvPicPr>
        <p:blipFill>
          <a:blip r:embed="rId3">
            <a:extLst/>
          </a:blip>
          <a:srcRect l="0" t="1076" r="0" b="1076"/>
          <a:stretch>
            <a:fillRect/>
          </a:stretch>
        </p:blipFill>
        <p:spPr>
          <a:xfrm>
            <a:off x="6802967" y="1617980"/>
            <a:ext cx="4846956" cy="31597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灯片编号占位符 4"/>
          <p:cNvSpPr txBox="1"/>
          <p:nvPr>
            <p:ph type="sldNum" sz="quarter" idx="2"/>
          </p:nvPr>
        </p:nvSpPr>
        <p:spPr>
          <a:xfrm>
            <a:off x="11808459" y="6444677"/>
            <a:ext cx="193041" cy="2870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8" name="标题 1"/>
          <p:cNvSpPr txBox="1"/>
          <p:nvPr>
            <p:ph type="title"/>
          </p:nvPr>
        </p:nvSpPr>
        <p:spPr>
          <a:xfrm>
            <a:off x="0" y="7039"/>
            <a:ext cx="10016456" cy="579559"/>
          </a:xfrm>
          <a:prstGeom prst="rect">
            <a:avLst/>
          </a:prstGeom>
        </p:spPr>
        <p:txBody>
          <a:bodyPr/>
          <a:lstStyle/>
          <a:p>
            <a:pPr/>
            <a:r>
              <a:t>3.Inequality in the Education Layer</a:t>
            </a:r>
          </a:p>
        </p:txBody>
      </p:sp>
      <p:pic>
        <p:nvPicPr>
          <p:cNvPr id="69" name="AI批改试卷.jpeg" descr="AI批改试卷.jpeg"/>
          <p:cNvPicPr>
            <a:picLocks noChangeAspect="1"/>
          </p:cNvPicPr>
          <p:nvPr/>
        </p:nvPicPr>
        <p:blipFill>
          <a:blip r:embed="rId2">
            <a:extLst/>
          </a:blip>
          <a:srcRect l="6958" t="0" r="6958" b="0"/>
          <a:stretch>
            <a:fillRect/>
          </a:stretch>
        </p:blipFill>
        <p:spPr>
          <a:xfrm>
            <a:off x="1099185" y="1617980"/>
            <a:ext cx="6582303" cy="4291045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文本框 12"/>
          <p:cNvSpPr txBox="1"/>
          <p:nvPr/>
        </p:nvSpPr>
        <p:spPr>
          <a:xfrm>
            <a:off x="950594" y="1036955"/>
            <a:ext cx="456946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0"/>
            </a:pPr>
            <a:r>
              <a:t>2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）Automated grading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灯片编号占位符 4"/>
          <p:cNvSpPr txBox="1"/>
          <p:nvPr>
            <p:ph type="sldNum" sz="quarter" idx="2"/>
          </p:nvPr>
        </p:nvSpPr>
        <p:spPr>
          <a:xfrm>
            <a:off x="11808459" y="6444677"/>
            <a:ext cx="193041" cy="2870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3" name="标题 1"/>
          <p:cNvSpPr txBox="1"/>
          <p:nvPr>
            <p:ph type="title"/>
          </p:nvPr>
        </p:nvSpPr>
        <p:spPr>
          <a:xfrm>
            <a:off x="0" y="7039"/>
            <a:ext cx="10016456" cy="579559"/>
          </a:xfrm>
          <a:prstGeom prst="rect">
            <a:avLst/>
          </a:prstGeom>
        </p:spPr>
        <p:txBody>
          <a:bodyPr/>
          <a:lstStyle/>
          <a:p>
            <a:pPr/>
            <a:r>
              <a:t>3.Inequality in the Education Layer</a:t>
            </a:r>
          </a:p>
        </p:txBody>
      </p:sp>
      <p:sp>
        <p:nvSpPr>
          <p:cNvPr id="74" name="文本框 12"/>
          <p:cNvSpPr txBox="1"/>
          <p:nvPr/>
        </p:nvSpPr>
        <p:spPr>
          <a:xfrm>
            <a:off x="950594" y="1036955"/>
            <a:ext cx="7529223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0"/>
            </a:pPr>
            <a:r>
              <a:t>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）Predictive systems that identify at-risk students</a:t>
            </a:r>
          </a:p>
        </p:txBody>
      </p:sp>
      <p:pic>
        <p:nvPicPr>
          <p:cNvPr id="75" name="自动评判at-risk图.png" descr="自动评判at-risk图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4828" y="1459405"/>
            <a:ext cx="8273823" cy="48601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ustech">
  <a:themeElements>
    <a:clrScheme name="sus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8F8F8F"/>
      </a:accent3>
      <a:accent4>
        <a:srgbClr val="707070"/>
      </a:accent4>
      <a:accent5>
        <a:srgbClr val="AAE2CA"/>
      </a:accent5>
      <a:accent6>
        <a:srgbClr val="2D2DB9"/>
      </a:accent6>
      <a:hlink>
        <a:srgbClr val="0000FF"/>
      </a:hlink>
      <a:folHlink>
        <a:srgbClr val="FF00FF"/>
      </a:folHlink>
    </a:clrScheme>
    <a:fontScheme name="sustech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sus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1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1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ustech">
  <a:themeElements>
    <a:clrScheme name="sus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8F8F8F"/>
      </a:accent3>
      <a:accent4>
        <a:srgbClr val="707070"/>
      </a:accent4>
      <a:accent5>
        <a:srgbClr val="AAE2CA"/>
      </a:accent5>
      <a:accent6>
        <a:srgbClr val="2D2DB9"/>
      </a:accent6>
      <a:hlink>
        <a:srgbClr val="0000FF"/>
      </a:hlink>
      <a:folHlink>
        <a:srgbClr val="FF00FF"/>
      </a:folHlink>
    </a:clrScheme>
    <a:fontScheme name="sustech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sus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1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1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